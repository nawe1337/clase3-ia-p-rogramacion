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80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235440" y="-1554480"/>
            <a:ext cx="4754880" cy="475488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44200" y="4434840"/>
            <a:ext cx="777240" cy="7772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85800" y="507492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80160" y="822960"/>
            <a:ext cx="274320" cy="27432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178308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2D3EE"/>
                </a:solidFill>
                <a:latin typeface="Segoe UI"/>
              </a:rPr>
              <a:t>CURSO · PROGRAMACIÓN CON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19456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1" i="0">
                <a:solidFill>
                  <a:srgbClr val="F8FAFC"/>
                </a:solidFill>
                <a:latin typeface="Segoe UI"/>
              </a:rPr>
              <a:t>Primeros pasos 🛠️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429000"/>
            <a:ext cx="121916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A78BFA"/>
                </a:solidFill>
                <a:latin typeface="Segoe UI"/>
              </a:rPr>
              <a:t>Tu entorno de desarrollo + tu primera página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114800"/>
            <a:ext cx="1219169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94A3B8"/>
                </a:solidFill>
                <a:latin typeface="Segoe UI"/>
              </a:rPr>
              <a:t>VS Code · Node.js · OpenCode · 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715000"/>
            <a:ext cx="1219169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AR" sz="1400" i="1" dirty="0">
                <a:solidFill>
                  <a:srgbClr val="94A3B8"/>
                </a:solidFill>
                <a:latin typeface="Segoe UI"/>
              </a:rPr>
              <a:t>Nahuel Francia</a:t>
            </a:r>
            <a:r>
              <a:rPr sz="1400" b="0" i="1" dirty="0">
                <a:solidFill>
                  <a:srgbClr val="94A3B8"/>
                </a:solidFill>
                <a:latin typeface="Segoe UI"/>
              </a:rPr>
              <a:t> </a:t>
            </a:r>
            <a:r>
              <a:rPr lang="es-AR" sz="1400" b="0" i="1" dirty="0">
                <a:solidFill>
                  <a:srgbClr val="94A3B8"/>
                </a:solidFill>
                <a:latin typeface="Segoe UI"/>
              </a:rPr>
              <a:t>– </a:t>
            </a:r>
            <a:r>
              <a:rPr lang="es-AR" sz="1400" b="0" i="1" dirty="0" err="1">
                <a:solidFill>
                  <a:srgbClr val="94A3B8"/>
                </a:solidFill>
                <a:latin typeface="Segoe UI"/>
              </a:rPr>
              <a:t>tec</a:t>
            </a:r>
            <a:r>
              <a:rPr lang="es-AR" sz="1400" b="0" i="1" dirty="0">
                <a:solidFill>
                  <a:srgbClr val="94A3B8"/>
                </a:solidFill>
                <a:latin typeface="Segoe UI"/>
              </a:rPr>
              <a:t> programador</a:t>
            </a:r>
            <a:endParaRPr sz="1400" b="0" i="1" dirty="0">
              <a:solidFill>
                <a:srgbClr val="94A3B8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El plan de hoy 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5029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22D3EE"/>
                </a:solidFill>
                <a:latin typeface="Segoe UI"/>
              </a:rPr>
              <a:t>⏱ 60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2112263"/>
            <a:ext cx="493776" cy="49377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1984247"/>
            <a:ext cx="9247327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 dirty="0">
                <a:solidFill>
                  <a:srgbClr val="F8FAFC"/>
                </a:solidFill>
                <a:latin typeface="Segoe UI"/>
              </a:rPr>
              <a:t>¿</a:t>
            </a:r>
            <a:r>
              <a:rPr sz="1650" b="1" i="0" dirty="0" err="1">
                <a:solidFill>
                  <a:srgbClr val="F8FAFC"/>
                </a:solidFill>
                <a:latin typeface="Segoe UI"/>
              </a:rPr>
              <a:t>Cómo</a:t>
            </a:r>
            <a:r>
              <a:rPr sz="1650" b="1" i="0" dirty="0">
                <a:solidFill>
                  <a:srgbClr val="F8FAFC"/>
                </a:solidFill>
                <a:latin typeface="Segoe UI"/>
              </a:rPr>
              <a:t> </a:t>
            </a:r>
            <a:r>
              <a:rPr sz="1650" b="1" i="0" dirty="0" err="1">
                <a:solidFill>
                  <a:srgbClr val="F8FAFC"/>
                </a:solidFill>
                <a:latin typeface="Segoe UI"/>
              </a:rPr>
              <a:t>funciona</a:t>
            </a:r>
            <a:r>
              <a:rPr sz="1650" b="1" i="0" dirty="0">
                <a:solidFill>
                  <a:srgbClr val="F8FAFC"/>
                </a:solidFill>
                <a:latin typeface="Segoe UI"/>
              </a:rPr>
              <a:t> la web?  ·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404871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El viaje de una página: del servidor a tu pantalla.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17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33856" y="3255264"/>
            <a:ext cx="493776" cy="49377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3127248"/>
            <a:ext cx="9247327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 dirty="0" err="1">
                <a:solidFill>
                  <a:srgbClr val="F8FAFC"/>
                </a:solidFill>
                <a:latin typeface="Segoe UI"/>
              </a:rPr>
              <a:t>Instalamos</a:t>
            </a:r>
            <a:r>
              <a:rPr sz="1650" b="1" i="0" dirty="0">
                <a:solidFill>
                  <a:srgbClr val="F8FAFC"/>
                </a:solidFill>
                <a:latin typeface="Segoe UI"/>
              </a:rPr>
              <a:t> las </a:t>
            </a:r>
            <a:r>
              <a:rPr sz="1650" b="1" i="0" dirty="0" err="1">
                <a:solidFill>
                  <a:srgbClr val="F8FAFC"/>
                </a:solidFill>
                <a:latin typeface="Segoe UI"/>
              </a:rPr>
              <a:t>herramientas</a:t>
            </a:r>
            <a:r>
              <a:rPr sz="1650" b="1" i="0" dirty="0">
                <a:solidFill>
                  <a:srgbClr val="F8FAFC"/>
                </a:solidFill>
                <a:latin typeface="Segoe UI"/>
              </a:rPr>
              <a:t>  ·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3547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Navegador, VS Code, Node.js y OpenCode: tu arsenal completo.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60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3856" y="4398264"/>
            <a:ext cx="493776" cy="49377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4270248"/>
            <a:ext cx="9247327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 dirty="0">
                <a:solidFill>
                  <a:srgbClr val="F8FAFC"/>
                </a:solidFill>
                <a:latin typeface="Segoe UI"/>
              </a:rPr>
              <a:t>Tu </a:t>
            </a:r>
            <a:r>
              <a:rPr sz="1650" b="1" i="0" dirty="0" err="1">
                <a:solidFill>
                  <a:srgbClr val="F8FAFC"/>
                </a:solidFill>
                <a:latin typeface="Segoe UI"/>
              </a:rPr>
              <a:t>primera</a:t>
            </a:r>
            <a:r>
              <a:rPr sz="1650" b="1" i="0" dirty="0">
                <a:solidFill>
                  <a:srgbClr val="F8FAFC"/>
                </a:solidFill>
                <a:latin typeface="Segoe UI"/>
              </a:rPr>
              <a:t> </a:t>
            </a:r>
            <a:r>
              <a:rPr sz="1650" b="1" i="0" dirty="0" err="1">
                <a:solidFill>
                  <a:srgbClr val="F8FAFC"/>
                </a:solidFill>
                <a:latin typeface="Segoe UI"/>
              </a:rPr>
              <a:t>página</a:t>
            </a:r>
            <a:r>
              <a:rPr sz="1650" b="1" i="0" dirty="0">
                <a:solidFill>
                  <a:srgbClr val="F8FAFC"/>
                </a:solidFill>
                <a:latin typeface="Segoe UI"/>
              </a:rPr>
              <a:t> HTML  ·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088" y="4690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Escribimos juntos una página real y la vemos en el navegador.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303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33856" y="5541264"/>
            <a:ext cx="493776" cy="49377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5413248"/>
            <a:ext cx="9247327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 dirty="0">
                <a:solidFill>
                  <a:srgbClr val="F8FAFC"/>
                </a:solidFill>
                <a:latin typeface="Segoe UI"/>
              </a:rPr>
              <a:t>Mini </a:t>
            </a:r>
            <a:r>
              <a:rPr sz="1650" b="1" i="0" dirty="0" err="1">
                <a:solidFill>
                  <a:srgbClr val="F8FAFC"/>
                </a:solidFill>
                <a:latin typeface="Segoe UI"/>
              </a:rPr>
              <a:t>reto</a:t>
            </a:r>
            <a:r>
              <a:rPr sz="1650" b="1" i="0" dirty="0">
                <a:solidFill>
                  <a:srgbClr val="F8FAFC"/>
                </a:solidFill>
                <a:latin typeface="Segoe UI"/>
              </a:rPr>
              <a:t> + </a:t>
            </a:r>
            <a:r>
              <a:rPr sz="1650" b="1" i="0" dirty="0" err="1">
                <a:solidFill>
                  <a:srgbClr val="F8FAFC"/>
                </a:solidFill>
                <a:latin typeface="Segoe UI"/>
              </a:rPr>
              <a:t>cierre</a:t>
            </a:r>
            <a:r>
              <a:rPr sz="1650" b="1" i="0" dirty="0">
                <a:solidFill>
                  <a:srgbClr val="F8FAFC"/>
                </a:solidFill>
                <a:latin typeface="Segoe UI"/>
              </a:rPr>
              <a:t>  ·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47088" y="5833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Tu página “Sobre mí” y un vistazo a lo que viene.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Primeros pasos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78BFA"/>
                </a:solidFill>
                <a:latin typeface="Segoe UI"/>
              </a:rPr>
              <a:t>FASE 1 · ENTENDER EL TERRENO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¿Cómo funciona la web? 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5029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dirty="0">
                <a:solidFill>
                  <a:srgbClr val="A78BFA"/>
                </a:solidFill>
                <a:latin typeface="Segoe UI"/>
              </a:rPr>
              <a:t>⏱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2286000" cy="15544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13055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8FAFC"/>
                </a:solidFill>
                <a:latin typeface="Segoe UI"/>
              </a:rP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24328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E2E8F0"/>
                </a:solidFill>
                <a:latin typeface="Segoe UI"/>
              </a:rPr>
              <a:t>1. Escribes una dirección
(google.com)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251460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2D3EE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1965960"/>
            <a:ext cx="2286000" cy="15544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93008" y="213055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8FAFC"/>
                </a:solidFill>
                <a:latin typeface="Segoe UI"/>
              </a:rPr>
              <a:t>➡️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624328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E2E8F0"/>
                </a:solidFill>
                <a:latin typeface="Segoe UI"/>
              </a:rPr>
              <a:t>2. Tu navegador le pide
la página a un servidor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51460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2D3EE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965960"/>
            <a:ext cx="2286000" cy="15544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63056" y="213055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8FAFC"/>
                </a:solidFill>
                <a:latin typeface="Segoe UI"/>
              </a:rPr>
              <a:t>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624328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E2E8F0"/>
                </a:solidFill>
                <a:latin typeface="Segoe UI"/>
              </a:rPr>
              <a:t>3. El servidor responde con
HTML, CSS y JavaScript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51460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2D3EE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33104" y="1965960"/>
            <a:ext cx="2286000" cy="15544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33104" y="213055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8FAFC"/>
                </a:solidFill>
                <a:latin typeface="Segoe UI"/>
              </a:rPr>
              <a:t>🖥️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0264" y="2624328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E2E8F0"/>
                </a:solidFill>
                <a:latin typeface="Segoe UI"/>
              </a:rPr>
              <a:t>4. El navegador la “pinta”
en tu pantalla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977639"/>
            <a:ext cx="10545775" cy="105156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33856" y="4256531"/>
            <a:ext cx="493776" cy="49377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47088" y="4087367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FAFC"/>
                </a:solidFill>
                <a:latin typeface="Segoe UI"/>
              </a:rPr>
              <a:t>Lo importante: una página web no es “magia”.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47088" y="4507991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Es un archivo de texto (HTML) que viaja por internet y tu navegador traduce en algo bonito. Tú también puedes escribirlo.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212080"/>
            <a:ext cx="10545775" cy="105156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33856" y="5490972"/>
            <a:ext cx="493776" cy="49377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47088" y="532180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FAFC"/>
                </a:solidFill>
                <a:latin typeface="Segoe UI"/>
              </a:rPr>
              <a:t>Comprobémoslo: clic derecho → “Inspeccionar” en cualquier página.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47088" y="574243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F12 abre las herramientas de desarrollador: verás el HTML real de cualquier sitio. ¡Bienvenido tras el telón! 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Primeros pasos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78BFA"/>
                </a:solidFill>
                <a:latin typeface="Segoe UI"/>
              </a:rPr>
              <a:t>FASE 1 · ENTENDER EL TERRENO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HTML, CSS y JavaScript: el trío 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423818" cy="3396996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30551"/>
            <a:ext cx="333237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F8FAFC"/>
                </a:solidFill>
                <a:latin typeface="Segoe UI"/>
              </a:rPr>
              <a:t>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199"/>
            <a:ext cx="287517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HTML — la estructura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37559"/>
            <a:ext cx="287517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94A3B8"/>
                </a:solidFill>
                <a:latin typeface="Segoe UI"/>
              </a:rPr>
              <a:t>Ladrillos, paredes, habitaciones. Define QUÉ hay en la página: títulos, textos, imágenes, botones.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389119"/>
            <a:ext cx="2692298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344168" y="4517135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527048" y="4517135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709928" y="4517135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57400" y="4462271"/>
            <a:ext cx="159501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94A3B8"/>
                </a:solidFill>
                <a:latin typeface="Segoe UI"/>
              </a:rPr>
              <a:t>ejemplo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2999" y="4754878"/>
            <a:ext cx="2875178" cy="374904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99032" y="4864607"/>
            <a:ext cx="2235098" cy="548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&lt;h1&gt;¡Hola!&lt;/h1&gt;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9658" y="1874519"/>
            <a:ext cx="3423818" cy="3396996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29658" y="2130551"/>
            <a:ext cx="333237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F8FAFC"/>
                </a:solidFill>
                <a:latin typeface="Segoe UI"/>
              </a:rPr>
              <a:t>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8258" y="2743199"/>
            <a:ext cx="287517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CSS — el diseño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8258" y="3337559"/>
            <a:ext cx="287517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94A3B8"/>
                </a:solidFill>
                <a:latin typeface="Segoe UI"/>
              </a:rPr>
              <a:t>La pintura y la decoración. Define CÓMO se ve: colores, tamaños, posiciones, tipografías.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49698" y="4389119"/>
            <a:ext cx="2692298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950866" y="4517135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133746" y="4517135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316626" y="4517135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4098" y="4462271"/>
            <a:ext cx="159501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94A3B8"/>
                </a:solidFill>
                <a:latin typeface="Segoe UI"/>
              </a:rPr>
              <a:t>ejemplo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49698" y="4754878"/>
            <a:ext cx="2783738" cy="36576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05730" y="4864607"/>
            <a:ext cx="2235098" cy="548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h1 { color: blue; }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36355" y="1874518"/>
            <a:ext cx="3423817" cy="3479293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36356" y="2130551"/>
            <a:ext cx="333237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F8FAFC"/>
                </a:solidFill>
                <a:latin typeface="Segoe UI"/>
              </a:rPr>
              <a:t>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4956" y="2743199"/>
            <a:ext cx="287517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JavaScript — la acción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4956" y="3337559"/>
            <a:ext cx="287517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94A3B8"/>
                </a:solidFill>
                <a:latin typeface="Segoe UI"/>
              </a:rPr>
              <a:t>La electricidad: luces, timbre, puertas automáticas. Define QUÉ HACE: reaccionar a clics, mover cosas, pensar.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56396" y="4389119"/>
            <a:ext cx="2692298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557564" y="4517135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740444" y="4517135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923324" y="4517135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70796" y="4462271"/>
            <a:ext cx="159501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94A3B8"/>
                </a:solidFill>
                <a:latin typeface="Segoe UI"/>
              </a:rPr>
              <a:t>ejemplo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56396" y="4754878"/>
            <a:ext cx="2692298" cy="36575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12428" y="4864607"/>
            <a:ext cx="2235098" cy="548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btn.onclick = saludar;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1">
                <a:solidFill>
                  <a:srgbClr val="22D3EE"/>
                </a:solidFill>
                <a:latin typeface="Segoe UI"/>
              </a:rPr>
              <a:t>Hoy jugaremos con HTML. CSS y JavaScript llegan en las próximas clases 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Primeros pasos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Segoe UI"/>
              </a:rPr>
              <a:t>FASE 2 · EL ARSENAL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Lo que instalaremos hoy 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5029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22D3EE"/>
                </a:solidFill>
                <a:latin typeface="Segoe UI"/>
              </a:rPr>
              <a:t>⏱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2112263"/>
            <a:ext cx="493776" cy="49377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1984247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Un navegador moderno  ·  ya lo tienes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404871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Chrome, Edge o Firefox: será nuestra ventana para ver (e inspeccionar) páginas.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17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33856" y="3255264"/>
            <a:ext cx="493776" cy="49377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3127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Visual Studio Code  ·  el editor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3547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El programa donde ESCRIBIMOS el código. Gratis, de Microsoft, el más usado del mundo.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60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3856" y="4398264"/>
            <a:ext cx="493776" cy="49377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4270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Node.js  ·  el motor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088" y="4690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JavaScript fuera del navegador. Nos regala npm, la “tienda de apps” de los programadores.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303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33856" y="5541264"/>
            <a:ext cx="493776" cy="49377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5413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OpenCode  ·  tu copiloto de 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47088" y="5833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Un agente de IA de código abierto que programa CONTIGO, desde la terminal.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Primeros pasos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Segoe UI"/>
              </a:rPr>
              <a:t>PASO 1 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El navegador: tu ventana al frontal 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" y="2112263"/>
            <a:ext cx="493776" cy="49377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1984247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Buenas noticias: ¡ya lo tienes instalado!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2404871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Chrome, Edge o Firefox: cualquiera sirve. Nosotros usaremos uno de esos tres.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17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3856" y="3255264"/>
            <a:ext cx="493776" cy="49377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3127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¿Qué haremos con él?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3547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Ver nuestras páginas, probarlas en pantalla grande y chica, y depurar errores.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60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33856" y="4398264"/>
            <a:ext cx="493776" cy="49377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088" y="4270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Sus herramientas de desarrollador (F12)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4690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Nos dejan ver el HTML real de cualquier sitio, editar en vivo y encontrar errores.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303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33856" y="5541264"/>
            <a:ext cx="493776" cy="49377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5413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Dato de la clase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5833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Clic derecho → “Inspeccionar” en cualquier página: verás que TODO es HTML, CSS y JS.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Primeros pasos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78BFA"/>
                </a:solidFill>
                <a:latin typeface="Segoe UI"/>
              </a:rPr>
              <a:t>PASO 2 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Visual Studio Code: tu taller 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" y="2112263"/>
            <a:ext cx="493776" cy="49377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1984247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¿Qué 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2404871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Un editor de código hecho por Microsoft. Como Word, pero para programar (y mucho más listo).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17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3856" y="3255264"/>
            <a:ext cx="493776" cy="49377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3127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¿Por qué este y no otro?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3547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Gratis, abierto, ligero y el más popular del mundo: casi toda la documentación y tutoriales lo usan.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60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33856" y="4398264"/>
            <a:ext cx="493776" cy="49377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088" y="4270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Lo que más nos va a gustar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4690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Colorea el código, autocomplete, atajos de teclado, terminal integrada y extensiones para todo.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303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33856" y="5541264"/>
            <a:ext cx="493776" cy="49377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5413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¿Y OpenCode?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5833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Se integra con VS Code: la IA escribe y edita archivos mientras tú ves los cambios en tu editor.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Primeros pasos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78BFA"/>
                </a:solidFill>
                <a:latin typeface="Segoe UI"/>
              </a:rPr>
              <a:t>PASO 2 DE 4 · MANOS A LA OBRA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Instalar VS Code ⬇️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" y="2112263"/>
            <a:ext cx="493776" cy="49377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1984247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Descarga el instalador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2404871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Entra a code.visualstudio.com y haz clic en el botón azul grande (detecta tu sistema).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17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3856" y="3255264"/>
            <a:ext cx="493776" cy="49377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3127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Siguiente, siguiente… con un ojo abierto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3547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Acepta la licencia. En “Seleccionar tareas adicionales”, marca ✅ “Agregar a PATH” y ✅ “Crear icono”.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60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33856" y="4398264"/>
            <a:ext cx="493776" cy="49377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088" y="4270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Ábrelo y ponlo en español (opcional)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4690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Teoría del colour: el idioma se cambia desde el marketplace (lo veremos en 2 diapositivas).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303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33856" y="5541264"/>
            <a:ext cx="493776" cy="49377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5413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¿Ya tienes terminal? Comando directo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5833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En PowerShell (como administrador):  winget install Microsoft.VisualStudioCode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94A3B8"/>
                </a:solidFill>
                <a:latin typeface="Segoe UI"/>
              </a:rPr>
              <a:t>⏸ Pausa de ayudantía: quien se atasque, levante la mano. Nadie se queda atrás 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Primeros pasos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78BFA"/>
                </a:solidFill>
                <a:latin typeface="Segoe UI"/>
              </a:rPr>
              <a:t>PASO 2 DE 4 · AJUSTANDO EL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Extensiones que usaremos 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" y="2112263"/>
            <a:ext cx="493776" cy="49377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1984247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Live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2404871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Lanza un mini servidor local y recarga tu página sola al guardar. Verás tus cambios AL INSTANTE.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17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3856" y="3255264"/>
            <a:ext cx="493776" cy="49377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3127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Prettier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3547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Formatea tu código automáticamente: siempre limpio y ordenado, sin pelear con la indentación.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60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33856" y="4398264"/>
            <a:ext cx="493776" cy="49377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088" y="4270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Spanish Language Pack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4690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Interfaz de VS Code en español, para que todo sea más amigable al inicio.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303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33856" y="5541264"/>
            <a:ext cx="493776" cy="49377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5413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Material Icon Theme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5833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Iconos bonitos y claros para identificar archivos de un vistazo (html, css, js…).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94A3B8"/>
                </a:solidFill>
                <a:latin typeface="Segoe UI"/>
              </a:rPr>
              <a:t>Cómo se instalan: pestaña de extensiones (ícono de piezas o Ctrl+Shift+X) → buscar → Install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Primeros pasos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472B6"/>
                </a:solidFill>
                <a:latin typeface="Segoe UI"/>
              </a:rPr>
              <a:t>PASO 3 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Node.js: el motor 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" y="2112263"/>
            <a:ext cx="493776" cy="49377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1984247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¿Qué 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2404871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Un programa que ejecuta JavaScript FUERA del navegador: en tu PC, en servidores, en cualquier lado.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17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3856" y="3255264"/>
            <a:ext cx="493776" cy="49377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3127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¿Por qué nos importa hoy?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3547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Viene con npm, el gestor de paquetes más grande del mundo: millones de piezas de código listas para usar.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60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33856" y="4398264"/>
            <a:ext cx="493776" cy="49377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088" y="4270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¿Y la conexión con la IA?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4690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OpenCode se instala con npm. Sin Node.js no hay npm; sin npm no hay OpenCode. Por eso va antes 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303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33856" y="5541264"/>
            <a:ext cx="493776" cy="49377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5413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Tranquilos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5833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Hoy no vamos a programar en Node: solo lo instalamos y verificamos que esté listo.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Primeros pasos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472B6"/>
                </a:solidFill>
                <a:latin typeface="Segoe UI"/>
              </a:rPr>
              <a:t>PASO 3 DE 4 · MANOS A LA OBRA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Instalar Node.js ⬇️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" y="2112263"/>
            <a:ext cx="493776" cy="49377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1984247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Descarga la versión 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2404871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Entra a nodejs.org y elige el botón que dice “LTS” (no la “Current”). LTS = Long Term Support: la versión estable y recomendada.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17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3856" y="3255264"/>
            <a:ext cx="493776" cy="49377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3127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Instala con las opciones por defecto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3547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Siguiente → siguiente → finalizar. No hay que cambiar nada para este curso.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60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33856" y="4398264"/>
            <a:ext cx="493776" cy="49377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088" y="4270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Verifica que quedó bien instalado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4690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Abre una terminal nueva (Windows PowerShell) y escribe:  node -v   y luego   npm -v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303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33856" y="5541264"/>
            <a:ext cx="493776" cy="49377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5413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¿Qué deberías ver?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5833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Algo como  v22.11.0  (la versión puede variar). Si aparece un número: ¡éxito! 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94A3B8"/>
                </a:solidFill>
                <a:latin typeface="Segoe UI"/>
              </a:rPr>
              <a:t>Alternativa por terminal:  winget install OpenJS.NodeJS   (luego cierra y reabre la terminal)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Primeros pasos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BBF24"/>
                </a:solidFill>
                <a:latin typeface="Segoe UI"/>
              </a:rPr>
              <a:t>PASO 4 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OpenCode: tu copiloto 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" y="2112263"/>
            <a:ext cx="493776" cy="49377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1984247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¿Qué 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2404871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Un agente de IA de código abierto que vive en tu terminal (y también tiene app de escritorio).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17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3856" y="3255264"/>
            <a:ext cx="493776" cy="49377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3127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¿Qué hace?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3547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Lee tu proyecto, escribe y edita código, ejecuta comandos y responde dudas. Tú diriges, él trabaja.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60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33856" y="4398264"/>
            <a:ext cx="493776" cy="49377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088" y="4270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¿Por qué OpenCode y no “otra cosa”?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4690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Es gratuito y abierto: el motor lo eliges tú (modelos de Google, Anthropic, GitHub… tu cuenta, tu control).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303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33856" y="5541264"/>
            <a:ext cx="493776" cy="49377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5413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Nuestro rol en este curso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5833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La IA no reemplaza aprender: te acompaña. Tú entenderás el código; ella acelera el camino.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Primeros pasos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BBF24"/>
                </a:solidFill>
                <a:latin typeface="Segoe UI"/>
              </a:rPr>
              <a:t>PASO 4 DE 4 · MANOS A LA OBRA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Instalar OpenCode ⬇️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45775" cy="141732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" y="2290572"/>
            <a:ext cx="493776" cy="49377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1828800"/>
            <a:ext cx="9247327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8FAFC"/>
                </a:solidFill>
                <a:latin typeface="Segoe UI"/>
              </a:rPr>
              <a:t>Opción A · Desde npm (ya la tenemos)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47088" y="2212848"/>
            <a:ext cx="9521647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048256" y="2340864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231136" y="2340864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414016" y="2340864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61488" y="2286000"/>
            <a:ext cx="842436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94A3B8"/>
                </a:solidFill>
                <a:latin typeface="Segoe UI"/>
              </a:rPr>
              <a:t>PowerShell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47088" y="2578608"/>
            <a:ext cx="9521647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03120" y="2688336"/>
            <a:ext cx="9064447" cy="3017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400">
                <a:solidFill>
                  <a:srgbClr val="E2E8F0"/>
                </a:solidFill>
                <a:latin typeface="Consolas"/>
              </a:rPr>
              <a:t>npm install -g @opencode/cli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429000"/>
            <a:ext cx="10545775" cy="100584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33856" y="3685032"/>
            <a:ext cx="493776" cy="49377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088" y="353872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FAFC"/>
                </a:solidFill>
                <a:latin typeface="Segoe UI"/>
              </a:rPr>
              <a:t>Opción B · App de escritorio (instalador gráfico)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395935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Descarga el instalador para Windows desde opencode.ai → Download. Doble clic y siguiente.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617720"/>
            <a:ext cx="10545775" cy="141732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33856" y="5079492"/>
            <a:ext cx="493776" cy="49377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47088" y="4617720"/>
            <a:ext cx="9247327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8FAFC"/>
                </a:solidFill>
                <a:latin typeface="Segoe UI"/>
              </a:rPr>
              <a:t>Primer arranque: conecta tu 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47088" y="5001768"/>
            <a:ext cx="9521647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048256" y="5129784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231136" y="5129784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414016" y="5129784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61488" y="5074920"/>
            <a:ext cx="842436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94A3B8"/>
                </a:solidFill>
                <a:latin typeface="Segoe UI"/>
              </a:rPr>
              <a:t>terminal (dentro de la carpeta de tu proyecto)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47088" y="5367528"/>
            <a:ext cx="9521647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103120" y="5477256"/>
            <a:ext cx="9064447" cy="3017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opencode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  → dentro del programa:  /connect   (elige tu proveedor: Google, GitHub, Anthropic…)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Primeros pasos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Segoe UI"/>
              </a:rPr>
              <a:t>FASE 2 · CONTROL DE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¿Todo listo? Verifiquémoslo 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4A3B8"/>
                </a:solidFill>
                <a:latin typeface="Segoe UI"/>
              </a:rPr>
              <a:t>Abre una terminal NUEVA y prueba estos comandos. Si los cuatro responden, tu arsenal está completo: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10545775" cy="749808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97280" y="2487168"/>
            <a:ext cx="3108960" cy="43891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22D3EE"/>
                </a:solidFill>
                <a:latin typeface="Consolas"/>
              </a:rPr>
              <a:t>code --version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331720"/>
            <a:ext cx="63093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E2E8F0"/>
                </a:solidFill>
                <a:latin typeface="Segoe UI"/>
              </a:rPr>
              <a:t>→ debe responder 1.9x.x o similar (VS Code)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46120"/>
            <a:ext cx="10545775" cy="749808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97280" y="3401568"/>
            <a:ext cx="3108960" cy="43891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A78BFA"/>
                </a:solidFill>
                <a:latin typeface="Consolas"/>
              </a:rPr>
              <a:t>node -v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246120"/>
            <a:ext cx="63093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E2E8F0"/>
                </a:solidFill>
                <a:latin typeface="Segoe UI"/>
              </a:rPr>
              <a:t>→ debe responder v22.x.x o mayor (Node.js)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60520"/>
            <a:ext cx="10545775" cy="749808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97280" y="4315968"/>
            <a:ext cx="3108960" cy="43891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587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472B6"/>
                </a:solidFill>
                <a:latin typeface="Consolas"/>
              </a:rPr>
              <a:t>npm -v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160520"/>
            <a:ext cx="63093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E2E8F0"/>
                </a:solidFill>
                <a:latin typeface="Segoe UI"/>
              </a:rPr>
              <a:t>→ debe responder 10.x.x o mayor (npm)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74920"/>
            <a:ext cx="10545775" cy="749808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97280" y="5230368"/>
            <a:ext cx="3108960" cy="43891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BBF24"/>
                </a:solidFill>
                <a:latin typeface="Consolas"/>
              </a:rPr>
              <a:t>opencode --version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5074920"/>
            <a:ext cx="63093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E2E8F0"/>
                </a:solidFill>
                <a:latin typeface="Segoe UI"/>
              </a:rPr>
              <a:t>→ debe responder 2.x.x o similar (OpenCode)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126480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22D3EE"/>
                </a:solidFill>
                <a:latin typeface="Segoe UI"/>
              </a:rPr>
              <a:t>Tip: si un comando “no existe”, cierra la terminal, ábrela de nuevo y reintenta. Suele ser eso 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Primeros pasos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Segoe UI"/>
              </a:rPr>
              <a:t>FASE 3 · MANOS AL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Nuestro primer proyecto 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5029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22D3EE"/>
                </a:solidFill>
                <a:latin typeface="Segoe UI"/>
              </a:rPr>
              <a:t>⏱ ~20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2112263"/>
            <a:ext cx="493776" cy="49377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1984247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Crea una carpeta para el proyecto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404871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Por ejemplo  mi-primer-sitio  en Documentos. Un proyecto = una carpeta. Prolijo desde el día uno.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17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33856" y="3255264"/>
            <a:ext cx="493776" cy="49377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3127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Ábrela con VS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3547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Archivo → Abrir carpeta… → elige tu carpeta. Verás el panel lateral (explorador) vacío: eso está bien.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60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3856" y="4398264"/>
            <a:ext cx="493776" cy="49377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4270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Crea el archivo  index.html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088" y="4690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Ícono de página con un + en el explorador. Nómbralo exactamente así, en minúsculas.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303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33856" y="5541264"/>
            <a:ext cx="493776" cy="49377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5413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¿Por qué se llama index?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47088" y="5833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Es el nombre que servidores y navegadores buscan por defecto: la puerta de entrada de tu sitio 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Primeros pasos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Segoe UI"/>
              </a:rPr>
              <a:t>FASE 3 · ENTENDER ANTES DE ESCRIBIR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Anatomía de una página HTML 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612648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" y="1956816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7008" y="1956816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89888" y="1956816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37360" y="1901952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94A3B8"/>
                </a:solidFill>
                <a:latin typeface="Segoe UI"/>
              </a:rPr>
              <a:t>index.html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194560"/>
            <a:ext cx="6126480" cy="397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2304288"/>
            <a:ext cx="5669280" cy="3776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50">
                <a:solidFill>
                  <a:srgbClr val="FBBF24"/>
                </a:solidFill>
                <a:latin typeface="Consolas"/>
              </a:rPr>
              <a:t>&lt;!DOCTYPE html&gt;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22D3EE"/>
                </a:solidFill>
                <a:latin typeface="Consolas"/>
              </a:rPr>
              <a:t>&lt;html lang="es"&gt;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22D3EE"/>
                </a:solidFill>
                <a:latin typeface="Consolas"/>
              </a:rPr>
              <a:t>  &lt;head&gt;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2E8F0"/>
                </a:solidFill>
                <a:latin typeface="Consolas"/>
              </a:rPr>
              <a:t>    &lt;meta charset="UTF-8"&gt;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2E8F0"/>
                </a:solidFill>
                <a:latin typeface="Consolas"/>
              </a:rPr>
              <a:t>    &lt;title&gt;Mi primera página&lt;/title&gt;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22D3EE"/>
                </a:solidFill>
                <a:latin typeface="Consolas"/>
              </a:rPr>
              <a:t>  &lt;/head&gt;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A78BFA"/>
                </a:solidFill>
                <a:latin typeface="Consolas"/>
              </a:rPr>
              <a:t>  &lt;body&gt;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34D399"/>
                </a:solidFill>
                <a:latin typeface="Consolas"/>
              </a:rPr>
              <a:t>    &lt;!-- Aquí va lo visible --&gt;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2E8F0"/>
                </a:solidFill>
                <a:latin typeface="Consolas"/>
              </a:rPr>
              <a:t>    &lt;h1&gt;¡Hola!&lt;/h1&gt;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2E8F0"/>
                </a:solidFill>
                <a:latin typeface="Consolas"/>
              </a:rPr>
              <a:t>    &lt;p&gt;Esta es mi página.&lt;/p&gt;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A78BFA"/>
                </a:solidFill>
                <a:latin typeface="Consolas"/>
              </a:rPr>
              <a:t>  &lt;/body&gt;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22D3EE"/>
                </a:solidFill>
                <a:latin typeface="Consolas"/>
              </a:rPr>
              <a:t>&lt;/html&gt;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828800"/>
            <a:ext cx="4160520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0" y="193852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8FAFC"/>
                </a:solidFill>
                <a:latin typeface="Segoe UI"/>
              </a:rPr>
              <a:t>⚠️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1938528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BBF24"/>
                </a:solidFill>
                <a:latin typeface="Consolas"/>
              </a:rPr>
              <a:t>&lt;!DOCTYPE html&gt;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28600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El aviso: “esto es HTML moderno (HTML5)”. Siempre va primero.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2944368"/>
            <a:ext cx="4160520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06640" y="3054096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8FAFC"/>
                </a:solidFill>
                <a:latin typeface="Segoe UI"/>
              </a:rPr>
              <a:t>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054096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onsolas"/>
              </a:rPr>
              <a:t>&lt;head&gt; … &lt;/head&gt;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3401568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La oficina: información PARA el navegador (título de la pestaña, idioma, acentos). No se 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4059935"/>
            <a:ext cx="4160520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40" y="4169663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8FAFC"/>
                </a:solidFill>
                <a:latin typeface="Segoe UI"/>
              </a:rPr>
              <a:t>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169663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78BFA"/>
                </a:solidFill>
                <a:latin typeface="Consolas"/>
              </a:rPr>
              <a:t>&lt;body&gt; … &lt;/body&gt;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4517135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El escenario: TODO lo que el visitante sí ve. Aquí vive tu contenido.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78040" y="5175504"/>
            <a:ext cx="4160520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06640" y="528523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8FAFC"/>
                </a:solidFill>
                <a:latin typeface="Segoe UI"/>
              </a:rPr>
              <a:t>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528523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472B6"/>
                </a:solidFill>
                <a:latin typeface="Consolas"/>
              </a:rPr>
              <a:t>&lt;html&gt; … &lt;/html&gt;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5632704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La caja que contiene todo.  lang="es"  le dice al navegador el idioma.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Primeros pasos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Segoe UI"/>
              </a:rPr>
              <a:t>FASE 3 · A ESCRIBIR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Escribamos juntos ✍️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612648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" y="1956816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7008" y="1956816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89888" y="1956816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37360" y="1901952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94A3B8"/>
                </a:solidFill>
                <a:latin typeface="Segoe UI"/>
              </a:rPr>
              <a:t>index.html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194560"/>
            <a:ext cx="6126480" cy="397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2304288"/>
            <a:ext cx="5669280" cy="3776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50">
                <a:solidFill>
                  <a:srgbClr val="FBBF24"/>
                </a:solidFill>
                <a:latin typeface="Consolas"/>
              </a:rPr>
              <a:t>&lt;!DOCTYPE html&gt;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22D3EE"/>
                </a:solidFill>
                <a:latin typeface="Consolas"/>
              </a:rPr>
              <a:t>&lt;html lang="es"&gt;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22D3EE"/>
                </a:solidFill>
                <a:latin typeface="Consolas"/>
              </a:rPr>
              <a:t>  &lt;head&gt;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2E8F0"/>
                </a:solidFill>
                <a:latin typeface="Consolas"/>
              </a:rPr>
              <a:t>    &lt;meta charset="UTF-8"&gt;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2E8F0"/>
                </a:solidFill>
                <a:latin typeface="Consolas"/>
              </a:rPr>
              <a:t>    &lt;title&gt;Mi primera página&lt;/title&gt;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22D3EE"/>
                </a:solidFill>
                <a:latin typeface="Consolas"/>
              </a:rPr>
              <a:t>  &lt;/head&gt;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A78BFA"/>
                </a:solidFill>
                <a:latin typeface="Consolas"/>
              </a:rPr>
              <a:t>  &lt;body&gt;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2E8F0"/>
                </a:solidFill>
                <a:latin typeface="Consolas"/>
              </a:rPr>
              <a:t>    &lt;h1&gt;¡Hola, mundo! 👋&lt;/h1&gt;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2E8F0"/>
                </a:solidFill>
                <a:latin typeface="Consolas"/>
              </a:rPr>
              <a:t>    &lt;p&gt;Esta es mi primera página web.&lt;/p&gt;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2E8F0"/>
                </a:solidFill>
                <a:latin typeface="Consolas"/>
              </a:rPr>
              <a:t>    &lt;p&gt;La hice &lt;strong&gt;yo&lt;/strong&gt; &lt;em&gt;mismito&lt;/em&gt;.&lt;/p&gt;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A78BFA"/>
                </a:solidFill>
                <a:latin typeface="Consolas"/>
              </a:rPr>
              <a:t>  &lt;/body&gt;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22D3EE"/>
                </a:solidFill>
                <a:latin typeface="Consolas"/>
              </a:rPr>
              <a:t>&lt;/html&gt;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828800"/>
            <a:ext cx="4160520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0" y="193852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8FAFC"/>
                </a:solidFill>
                <a:latin typeface="Segoe UI"/>
              </a:rPr>
              <a:t>1️⃣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1938528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D3EE"/>
                </a:solidFill>
                <a:latin typeface="Segoe UI"/>
              </a:rPr>
              <a:t>Escribe esto en tu index.html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28600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Copia a mano, no con copy-paste: la memoria de los dedos existe 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2944368"/>
            <a:ext cx="4160520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06640" y="3054096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8FAFC"/>
                </a:solidFill>
                <a:latin typeface="Segoe UI"/>
              </a:rPr>
              <a:t>2️⃣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054096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A78BFA"/>
                </a:solidFill>
                <a:latin typeface="Segoe UI"/>
              </a:rPr>
              <a:t>Guarda con Ctrl +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3401568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El puntito del archivo en la pestaña desaparece cuando está guardado.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4059935"/>
            <a:ext cx="4160520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40" y="4169663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8FAFC"/>
                </a:solidFill>
                <a:latin typeface="Segoe UI"/>
              </a:rPr>
              <a:t>3️⃣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169663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472B6"/>
                </a:solidFill>
                <a:latin typeface="Segoe UI"/>
              </a:rPr>
              <a:t>Los acentos se llevan bien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4517135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Gracias a  &lt;meta charset="UTF-8"&gt;: ¡ñ, tildes y emojis sin dramas! 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78040" y="5175504"/>
            <a:ext cx="4160520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06640" y="528523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8FAFC"/>
                </a:solidFill>
                <a:latin typeface="Segoe UI"/>
              </a:rPr>
              <a:t>4️⃣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528523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BBF24"/>
                </a:solidFill>
                <a:latin typeface="Segoe UI"/>
              </a:rPr>
              <a:t>Truco Express 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5632704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En una línea vacía escribe  !  y pulsa Tab: Emmet arma toda la estructura por ti.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Primeros pasos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Segoe UI"/>
              </a:rPr>
              <a:t>FASE 3 · EL MOMENTO DE LA VERDAD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¡Mírala en el navegador! 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0545775" cy="137160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" y="2313431"/>
            <a:ext cx="493776" cy="49377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🖱️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2075687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FAFC"/>
                </a:solidFill>
                <a:latin typeface="Segoe UI"/>
              </a:rPr>
              <a:t>Forma rápida: doble clic en el archivo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2587751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Funciona… pero cada cambio exige recargar manualmente. Mejor arma profesional 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29000"/>
            <a:ext cx="10545775" cy="137160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3856" y="3867912"/>
            <a:ext cx="493776" cy="49377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363016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FAFC"/>
                </a:solidFill>
                <a:latin typeface="Segoe UI"/>
              </a:rPr>
              <a:t>Forma pro: Live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414223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Clic derecho en index.html → “Open with Live Server”. Se abre en http://127.0.0.1:5500 y ¡se recarga solo al guardar!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983480"/>
            <a:ext cx="10545775" cy="118872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33856" y="5330952"/>
            <a:ext cx="493776" cy="49377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088" y="51846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FAFC"/>
                </a:solidFill>
                <a:latin typeface="Segoe UI"/>
              </a:rPr>
              <a:t>Momento mágico del día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569671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Cambia algo del código, guarda (Ctrl+S) y mira la pantalla: sin recargar, sin esperar. Ese flujo lo usarás miles de veces.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Primeros pasos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Segoe UI"/>
              </a:rPr>
              <a:t>FASE 3 · VOCABULARIO HTML (1 DE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Títulos y texto 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630936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" y="1956816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7008" y="1956816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89888" y="1956816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37360" y="1901952"/>
            <a:ext cx="5212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94A3B8"/>
                </a:solidFill>
                <a:latin typeface="Segoe UI"/>
              </a:rPr>
              <a:t>titulos-y-texto.html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194560"/>
            <a:ext cx="6309360" cy="384048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2304288"/>
            <a:ext cx="5852160" cy="36393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&lt;h1&gt;Título principal (el más importante)&lt;/h1&gt;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&lt;h2&gt;Subtítulo&lt;/h2&gt;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&lt;h3&gt;Sección dentro del subtítulo&lt;/h3&gt;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&lt;p&gt;Un párrafo normal y corriente.&lt;/p&gt;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&lt;p&gt;Con &lt;strong&gt;negrita importante&lt;/strong&gt;,&lt;/p&gt;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&lt;p&gt;&lt;em&gt;cursiva con énfasis&lt;/em&gt;,&lt;/p&gt;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&lt;p&gt;y un salto&lt;br&gt;de línea.&lt;/p&gt;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1828800"/>
            <a:ext cx="3977639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0" y="193852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8FAFC"/>
                </a:solidFill>
                <a:latin typeface="Segoe UI"/>
              </a:rPr>
              <a:t>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93852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EE"/>
                </a:solidFill>
                <a:latin typeface="Consolas"/>
              </a:rPr>
              <a:t>h1 … h6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28600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Jerarquía de títulos: h1 es el jefe (uno por página), h2-h6 van bajando en importancia.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2944368"/>
            <a:ext cx="3977639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0" y="3054096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8FAFC"/>
                </a:solidFill>
                <a:latin typeface="Segoe UI"/>
              </a:rPr>
              <a:t>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054096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A78BFA"/>
                </a:solidFill>
                <a:latin typeface="Consolas"/>
              </a:rPr>
              <a:t>&lt;p&gt; … &lt;/p&gt;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40156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Párrafo: el bloque de texto básico. El navegador le pone aire arriba y abajo.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4059935"/>
            <a:ext cx="3977639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0" y="4169663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8FAFC"/>
                </a:solidFill>
                <a:latin typeface="Segoe UI"/>
              </a:rPr>
              <a:t>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169663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472B6"/>
                </a:solidFill>
                <a:latin typeface="Consolas"/>
              </a:rPr>
              <a:t>&lt;strong&gt; y &lt;em&gt;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4517135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Importancia (negrita) y énfasis (cursiva). Describen el SIGNIFICADO, no solo el estilo.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5175504"/>
            <a:ext cx="3977639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0" y="528523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8FAFC"/>
                </a:solidFill>
                <a:latin typeface="Segoe UI"/>
              </a:rPr>
              <a:t>↩️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5285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BBF24"/>
                </a:solidFill>
                <a:latin typeface="Consolas"/>
              </a:rPr>
              <a:t>&lt;br&gt;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5632704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Salto de línea forzado. Úsalo poco: para separar ideas, mejor párrafos nuevos.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Primeros pasos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Segoe UI"/>
              </a:rPr>
              <a:t>FASE 3 · VOCABULARIO HTML (2 DE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Listas, imágenes y enlaces 🖼️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630936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" y="1956816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7008" y="1956816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89888" y="1956816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37360" y="1901952"/>
            <a:ext cx="5212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94A3B8"/>
                </a:solidFill>
                <a:latin typeface="Segoe UI"/>
              </a:rPr>
              <a:t>contenido.html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194560"/>
            <a:ext cx="6309360" cy="384048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2304288"/>
            <a:ext cx="5852160" cy="36393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&lt;h3&gt;Mis 3 tecnologías favoritas&lt;/h3&gt;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22D3EE"/>
                </a:solidFill>
                <a:latin typeface="Consolas"/>
              </a:rPr>
              <a:t>&lt;ul&gt;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  &lt;li&gt;HTML&lt;/li&gt;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  &lt;li&gt;CSS&lt;/li&gt;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  &lt;li&gt;JavaScript&lt;/li&gt;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22D3EE"/>
                </a:solidFill>
                <a:latin typeface="Consolas"/>
              </a:rPr>
              <a:t>&lt;/ul&gt;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&lt;img src="foto.jpg" alt="Mi foto" width="300"&gt;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&lt;a href="https://developer.mozilla.org"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   target="_blank"&gt;Mi web favorita&lt;/a&gt;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1828800"/>
            <a:ext cx="3977639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0" y="193852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8FAFC"/>
                </a:solidFill>
                <a:latin typeface="Segoe UI"/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93852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EE"/>
                </a:solidFill>
                <a:latin typeface="Consolas"/>
              </a:rPr>
              <a:t>&lt;ul&gt; / &lt;ol&gt; / &lt;li&gt;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28600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Listas con viñetas (ul), numeradas (ol) e ítems (li). Van anidadas: li vive DENTRO de ul.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2944368"/>
            <a:ext cx="3977639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0" y="3054096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8FAFC"/>
                </a:solidFill>
                <a:latin typeface="Segoe UI"/>
              </a:rPr>
              <a:t>🖼️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054096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A78BFA"/>
                </a:solidFill>
                <a:latin typeface="Consolas"/>
              </a:rPr>
              <a:t>&lt;img&gt;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40156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Imagen. Es “autocerrable”. Sus datos van en atributos: src (dónde está) y alt (qué dice si no carga).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4059935"/>
            <a:ext cx="3977639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0" y="4169663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8FAFC"/>
                </a:solidFill>
                <a:latin typeface="Segoe UI"/>
              </a:rPr>
              <a:t>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169663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472B6"/>
                </a:solidFill>
                <a:latin typeface="Consolas"/>
              </a:rPr>
              <a:t>&lt;a href=…&gt;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4517135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El enlace: la etiqueta que une la web. href es el destino; target="_blank" lo abre en pestaña nueva.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5175504"/>
            <a:ext cx="3977639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0" y="528523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8FAFC"/>
                </a:solidFill>
                <a:latin typeface="Segoe UI"/>
              </a:rPr>
              <a:t>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5285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BBF24"/>
                </a:solidFill>
                <a:latin typeface="Consolas"/>
              </a:rPr>
              <a:t>Ojo con alt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5632704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Describe la imagen: es esencial para personas con lector de pantalla (y para Google).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Primeros pasos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Segoe UI"/>
              </a:rPr>
              <a:t>FASE 3 · LA GRAMÁTICA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Los atributos: la info extra 🏷️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45775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" y="1956816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7008" y="1956816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89888" y="1956816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37360" y="1901952"/>
            <a:ext cx="94484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94A3B8"/>
                </a:solidFill>
                <a:latin typeface="Segoe UI"/>
              </a:rPr>
              <a:t>la fórmula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194560"/>
            <a:ext cx="10545775" cy="64008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2304288"/>
            <a:ext cx="10088575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700">
                <a:solidFill>
                  <a:srgbClr val="22D3EE"/>
                </a:solidFill>
                <a:latin typeface="Consolas"/>
              </a:rPr>
              <a:t>&lt;etiqueta atributo="valor"&gt;  contenido visible  &lt;/etiqueta&gt;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71800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4A3B8"/>
                </a:solidFill>
                <a:latin typeface="Segoe UI"/>
              </a:rPr>
              <a:t>El atributo vive en la etiqueta de APERTURA y le da datos extra al navegador: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29000"/>
            <a:ext cx="5135727" cy="77724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429000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onsolas"/>
              </a:rPr>
              <a:t>href="https://…"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429000"/>
            <a:ext cx="1203807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2E8F0"/>
                </a:solidFill>
                <a:latin typeface="Segoe UI"/>
              </a:rPr>
              <a:t>Dónde lleva el enlace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5687" y="3429000"/>
            <a:ext cx="9601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4A3B8"/>
                </a:solidFill>
                <a:latin typeface="Segoe UI"/>
              </a:rPr>
              <a:t>en &lt;a&gt;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3429000"/>
            <a:ext cx="5135727" cy="77724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07327" y="3429000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78BFA"/>
                </a:solidFill>
                <a:latin typeface="Consolas"/>
              </a:rPr>
              <a:t>src="foto.jpg"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3367" y="3429000"/>
            <a:ext cx="1203807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2E8F0"/>
                </a:solidFill>
                <a:latin typeface="Segoe UI"/>
              </a:rPr>
              <a:t>Dónde está la imagen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25735" y="3429000"/>
            <a:ext cx="9601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4A3B8"/>
                </a:solidFill>
                <a:latin typeface="Segoe UI"/>
              </a:rPr>
              <a:t>en &lt;img&gt;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343400"/>
            <a:ext cx="5135727" cy="77724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4343400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472B6"/>
                </a:solidFill>
                <a:latin typeface="Consolas"/>
              </a:rPr>
              <a:t>alt="Mi foto"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343400"/>
            <a:ext cx="1203807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2E8F0"/>
                </a:solidFill>
                <a:latin typeface="Segoe UI"/>
              </a:rPr>
              <a:t>Descripción de la imagen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15687" y="4343400"/>
            <a:ext cx="9601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4A3B8"/>
                </a:solidFill>
                <a:latin typeface="Segoe UI"/>
              </a:rPr>
              <a:t>en &lt;img&gt;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3007" y="4343400"/>
            <a:ext cx="5135727" cy="77724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07327" y="4343400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BBF24"/>
                </a:solidFill>
                <a:latin typeface="Consolas"/>
              </a:rPr>
              <a:t>lang="es"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3367" y="4343400"/>
            <a:ext cx="1203807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2E8F0"/>
                </a:solidFill>
                <a:latin typeface="Segoe UI"/>
              </a:rPr>
              <a:t>Idioma del documento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5735" y="4343400"/>
            <a:ext cx="9601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4A3B8"/>
                </a:solidFill>
                <a:latin typeface="Segoe UI"/>
              </a:rPr>
              <a:t>en &lt;html&gt;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257800"/>
            <a:ext cx="5135727" cy="77724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" y="5257800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Consolas"/>
              </a:rPr>
              <a:t>charset="UTF-8"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5257800"/>
            <a:ext cx="1203807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2E8F0"/>
                </a:solidFill>
                <a:latin typeface="Segoe UI"/>
              </a:rPr>
              <a:t>Codificación de caracteres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15687" y="5257800"/>
            <a:ext cx="9601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4A3B8"/>
                </a:solidFill>
                <a:latin typeface="Segoe UI"/>
              </a:rPr>
              <a:t>en &lt;meta&gt;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3007" y="5257800"/>
            <a:ext cx="5135727" cy="77724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07327" y="5257800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onsolas"/>
              </a:rPr>
              <a:t>target="_blank"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13367" y="5257800"/>
            <a:ext cx="1203807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2E8F0"/>
                </a:solidFill>
                <a:latin typeface="Segoe UI"/>
              </a:rPr>
              <a:t>Abrir en pestaña nueva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25735" y="5257800"/>
            <a:ext cx="9601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4A3B8"/>
                </a:solidFill>
                <a:latin typeface="Segoe UI"/>
              </a:rPr>
              <a:t>en &lt;a&gt;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Primeros pasos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78BFA"/>
                </a:solidFill>
                <a:latin typeface="Segoe UI"/>
              </a:rPr>
              <a:t>FASE 3 · HÁBITOS DE PROFESIONAL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Buenas prácticas desde el día 1 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45775" cy="804672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" y="1938528"/>
            <a:ext cx="493776" cy="49377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189280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8FAFC"/>
                </a:solidFill>
                <a:latin typeface="Segoe UI"/>
              </a:rPr>
              <a:t>Indenta tu código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231343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Los “hijos” con una sangría más. Se lee mejor y los errores saltan a la vista.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15768"/>
            <a:ext cx="10545775" cy="804672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3856" y="2871216"/>
            <a:ext cx="493776" cy="49377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825496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8FAFC"/>
                </a:solidFill>
                <a:latin typeface="Segoe UI"/>
              </a:rPr>
              <a:t>Minúsculas siempre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3246120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&lt;P&gt; y &lt;p&gt; funcionan, pero la convención es minúsculas. Sé elegante desde ya.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48456"/>
            <a:ext cx="10545775" cy="804672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33856" y="3803904"/>
            <a:ext cx="493776" cy="49377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088" y="3758184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8FAFC"/>
                </a:solidFill>
                <a:latin typeface="Segoe UI"/>
              </a:rPr>
              <a:t>Cierra lo que abres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4178808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Cada etiqueta abierta merece su cierre &lt;/…&gt;. El navegador a veces perdona… no siempre.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581144"/>
            <a:ext cx="10545775" cy="804672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33856" y="4736592"/>
            <a:ext cx="493776" cy="49377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4690872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8FAFC"/>
                </a:solidFill>
                <a:latin typeface="Segoe UI"/>
              </a:rPr>
              <a:t>Comenta tu código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5111496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&lt;!-- esto es un comentario --&gt;  Solo lo lees tú. Futuro tú lo agradecerá.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513832"/>
            <a:ext cx="10545775" cy="804672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33856" y="5669280"/>
            <a:ext cx="493776" cy="49377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47088" y="5623560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8FAFC"/>
                </a:solidFill>
                <a:latin typeface="Segoe UI"/>
              </a:rPr>
              <a:t>Nombres de archivos prolijos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47088" y="6044184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Sin espacios, sin ñ, en minúsculas:  foto-perfil.jpg  ✔   foto perfil.jpg  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Primeros pasos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BBF24"/>
                </a:solidFill>
                <a:latin typeface="Segoe UI"/>
              </a:rPr>
              <a:t>FASE 4 · TU TURNO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Mini reto: tu página “Sobre mí” 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5029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BBF24"/>
                </a:solidFill>
                <a:latin typeface="Segoe UI"/>
              </a:rPr>
              <a:t>⏱ ~5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4A3B8"/>
                </a:solidFill>
                <a:latin typeface="Segoe UI"/>
              </a:rPr>
              <a:t>Crea un archivo  sobre-mi.html  en tu carpeta y que tenga…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86000"/>
            <a:ext cx="10545775" cy="841248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33856" y="2459736"/>
            <a:ext cx="493776" cy="49377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39572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8FAFC"/>
                </a:solidFill>
                <a:latin typeface="Segoe UI"/>
              </a:rPr>
              <a:t>Un &lt;h1&gt; con tu nombre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281635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Y un &lt;h2&gt; con un eslogan personal.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73552"/>
            <a:ext cx="10545775" cy="841248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33856" y="3447288"/>
            <a:ext cx="493776" cy="49377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3383280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8FAFC"/>
                </a:solidFill>
                <a:latin typeface="Segoe UI"/>
              </a:rPr>
              <a:t>Un &lt;p&gt; presentándote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088" y="3803904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Quién eres, a qué te dedicas, por qué estás en este curso.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61104"/>
            <a:ext cx="10545775" cy="841248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33856" y="4434840"/>
            <a:ext cx="493776" cy="49377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088" y="4370832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8FAFC"/>
                </a:solidFill>
                <a:latin typeface="Segoe UI"/>
              </a:rPr>
              <a:t>Una &lt;ul&gt; con 3 cosas que amas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4791456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Comida, música, series, deportes… lo que sea.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248656"/>
            <a:ext cx="10545775" cy="841248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33856" y="5422392"/>
            <a:ext cx="493776" cy="49377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47088" y="5358384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8FAFC"/>
                </a:solidFill>
                <a:latin typeface="Segoe UI"/>
              </a:rPr>
              <a:t>Una &lt;img&gt; y un &lt;a&gt;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47088" y="5779008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Tu foto (o algo que te represente) + un enlace a tu sitio favorito.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532120"/>
            <a:ext cx="10545775" cy="77724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33856" y="5673852"/>
            <a:ext cx="493776" cy="49377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47088" y="5532120"/>
            <a:ext cx="9247327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F8FAFC"/>
                </a:solidFill>
                <a:latin typeface="Segoe UI"/>
              </a:rPr>
              <a:t>Bonus IA: abre OpenCode en tu carpeta y pregúntale cómo mejorarla. Compara ideas.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Primeros pasos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737360" y="3474720"/>
            <a:ext cx="4572000" cy="457200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-1097280"/>
            <a:ext cx="2926080" cy="292608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109960" y="4846320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" y="96012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F8FAFC"/>
                </a:solidFill>
                <a:latin typeface="Segoe UI"/>
              </a:rPr>
              <a:t>¡Lo lograste! 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514600"/>
            <a:ext cx="121916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0" i="0">
                <a:solidFill>
                  <a:srgbClr val="94A3B8"/>
                </a:solidFill>
                <a:latin typeface="Segoe UI"/>
              </a:rPr>
              <a:t>Hoy instalaste TODO tu entorno de desarrollo y creaste tu primera página web.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520440"/>
            <a:ext cx="1219169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2D3EE"/>
                </a:solidFill>
                <a:latin typeface="Segoe UI"/>
              </a:rPr>
              <a:t>La próxima clase: CSS — tu página pasará de esto 👷 a esto 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94A3B8"/>
                </a:solidFill>
                <a:latin typeface="Segoe UI"/>
              </a:rPr>
              <a:t>Para explorar en casa: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709160"/>
            <a:ext cx="1219169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A78BFA"/>
                </a:solidFill>
                <a:latin typeface="Consolas"/>
              </a:rPr>
              <a:t>developer.mozilla.org  ·  w3schools.com  ·  opencode.ai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06440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Segoe UI"/>
              </a:rPr>
              <a:t>Programación con IA · Primeros pasos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3211</Words>
  <Application>Microsoft Office PowerPoint</Application>
  <PresentationFormat>Panorámica</PresentationFormat>
  <Paragraphs>438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Arial</vt:lpstr>
      <vt:lpstr>Calibri</vt:lpstr>
      <vt:lpstr>Consolas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con IA — Primeros pasos: entorno + HTML</dc:title>
  <dc:subject/>
  <dc:creator>Prof.</dc:creator>
  <cp:keywords/>
  <dc:description>generated using python-pptx</dc:description>
  <cp:lastModifiedBy>Usuario</cp:lastModifiedBy>
  <cp:revision>2</cp:revision>
  <dcterms:created xsi:type="dcterms:W3CDTF">2013-01-27T09:14:16Z</dcterms:created>
  <dcterms:modified xsi:type="dcterms:W3CDTF">2026-09-28T13:14:58Z</dcterms:modified>
  <cp:category/>
  <dc:language>es-MX</dc:language>
</cp:coreProperties>
</file>